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65760"/>
          <a:lstStyle/>
          <a:p>
            <a:pPr algn="ctr">
              <a:spcAft>
                <a:spcPts val="10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UNIVERSIDAD TECNOLÓGICA DE HONDURAS (UTH)</a:t>
            </a:r>
          </a:p>
          <a:p>
            <a:pPr algn="ctr">
              <a:spcAft>
                <a:spcPts val="1000"/>
              </a:spcAft>
              <a:defRPr sz="2600" b="1">
                <a:solidFill>
                  <a:srgbClr val="0F4B26"/>
                </a:solidFill>
                <a:latin typeface="Georgia"/>
              </a:defRPr>
            </a:pPr>
            <a:r>
              <a:t>Generación de APK con React Native, Expo y EAS Build</a:t>
            </a:r>
          </a:p>
          <a:p>
            <a:pPr algn="ctr">
              <a:spcAft>
                <a:spcPts val="2400"/>
              </a:spcAft>
              <a:defRPr sz="1400">
                <a:solidFill>
                  <a:srgbClr val="475569"/>
                </a:solidFill>
                <a:latin typeface="Verdana"/>
              </a:defRPr>
            </a:pPr>
            <a:r>
              <a:t>Guía paso a paso, configuración de canales OTA y solución de errores comunes</a:t>
            </a:r>
          </a:p>
          <a:p>
            <a:pPr algn="ctr">
              <a:defRPr sz="1300" b="1">
                <a:solidFill>
                  <a:srgbClr val="1E293B"/>
                </a:solidFill>
                <a:latin typeface="Verdana"/>
              </a:defRPr>
            </a:pPr>
            <a:r>
              <a:t>Asignatura: Programación Móvil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1 DE 8 • ENTORNO DE DESARROLLO LOCAL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Instalación Global de las Herramientas CLI de EAS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Prepara el sistema con las herramientas de línea de comandos de Expo Application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Terminal / Símbolo del Sistema (CMD / PowerShell / Bash)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Instalar la herramienta EAS CLI de forma global en tu máquina:</a:t>
            </a:r>
          </a:p>
          <a:p>
            <a:pPr>
              <a:spcAft>
                <a:spcPts val="200"/>
              </a:spcAft>
              <a:defRPr sz="1400">
                <a:solidFill>
                  <a:srgbClr val="38BDF8"/>
                </a:solidFill>
                <a:latin typeface="Courier New"/>
              </a:defRPr>
            </a:pPr>
            <a:r>
              <a:t>$ npm install -g eas-cli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Verificar la versión instalada correctamente:</a:t>
            </a:r>
          </a:p>
          <a:p>
            <a:pPr>
              <a:spcAft>
                <a:spcPts val="200"/>
              </a:spcAft>
              <a:defRPr sz="1300">
                <a:solidFill>
                  <a:srgbClr val="38BDF8"/>
                </a:solidFill>
                <a:latin typeface="Courier New"/>
              </a:defRPr>
            </a:pPr>
            <a:r>
              <a:t>$ eas --version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📌 Puntos Clave del Paso 1: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La opción -g instala la herramienta globalmente para que el comando 'eas' quede disponible en cualquier proyecto.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Se requiere Node.js y npm previamente instalados en la computadora.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Permite administrar builds, firmas y actualizaciones OTA directamente desde la terminal.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2 DE 8 • SESIÓN DE USUARIO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Autenticación de la Terminal Local con la Plataforma Expo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Conecta la herramienta local con la plataforma y servidores en la nube de Expo.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Terminal - Inicio de Sesión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Iniciar sesión con tu cuenta de Expo:</a:t>
            </a:r>
          </a:p>
          <a:p>
            <a:pPr>
              <a:spcAft>
                <a:spcPts val="200"/>
              </a:spcAft>
              <a:defRPr sz="1400">
                <a:solidFill>
                  <a:srgbClr val="38BDF8"/>
                </a:solidFill>
                <a:latin typeface="Courier New"/>
              </a:defRPr>
            </a:pPr>
            <a:r>
              <a:t>$ eas login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Confirmar el usuario autenticado actualmente:</a:t>
            </a:r>
          </a:p>
          <a:p>
            <a:pPr>
              <a:spcAft>
                <a:spcPts val="200"/>
              </a:spcAft>
              <a:defRPr sz="1300">
                <a:solidFill>
                  <a:srgbClr val="38BDF8"/>
                </a:solidFill>
                <a:latin typeface="Courier New"/>
              </a:defRPr>
            </a:pPr>
            <a:r>
              <a:t>$ eas whoami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📌 Puntos Clave del Paso 2: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Es obligatorio contar con una cuenta activa en la plataforma de Expo.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Ingresa tu nombre de usuario (o correo electrónico) y la contraseña de tu cuenta Expo.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La autenticación permite compilar en la nube, gestionar Keystores y publicar actualizaciones 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3 DE 8 • VINCULACIÓN DEL PROYECTO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Inicialización y Configuración del Proyecto (`eas build:configure`)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Conecta la carpeta local del proyecto con el servicio de compilación en la nube.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Terminal - Ejecución en la raíz del proyecto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Ejecutar en la terminal integrada dentro de la carpeta del proyecto:</a:t>
            </a:r>
          </a:p>
          <a:p>
            <a:pPr>
              <a:spcAft>
                <a:spcPts val="200"/>
              </a:spcAft>
              <a:defRPr sz="1400">
                <a:solidFill>
                  <a:srgbClr val="38BDF8"/>
                </a:solidFill>
                <a:latin typeface="Courier New"/>
              </a:defRPr>
            </a:pPr>
            <a:r>
              <a:t>$ eas build:configure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urier New"/>
              </a:defRPr>
            </a:pPr>
            <a:r>
              <a:t>? Which platforms would you like to configure for EAS Build? ›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1036289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📌 Efectos Automáticos del Paso 3: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Mensaje 'EAS project not configured': Seleccionar 'Yes' para vincular el proyecto con tu cuenta de Expo.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Genera un 'projectId' único que se guarda automáticamente en app.json (bajo extra.eas.projectId).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Crea en la raíz del proyecto el archivo de configuración clave: eas.json.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En la pregunta de plataforma, seleccionar 'Android' (o 'All' si se compila también para iOS).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SOLUCIÓN DE PROBLEMAS • PASO 3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Errores Comunes de Git y Permisos en `eas build:configure`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Diagnóstico y solución a los principales bloqueos al configurar la vinculación inicial.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Georgia"/>
              </a:defRPr>
            </a:pPr>
            <a:r>
              <a:t>⚠️ Caso 1: Git Requerido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Courier New"/>
              </a:defRPr>
            </a:pPr>
            <a:r>
              <a:t>Mensaje:</a:t>
            </a:r>
            <a:br/>
            <a:r>
              <a:t>'EAS requires you to use a Git repository'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Causa:</a:t>
            </a:r>
            <a:br/>
            <a:r>
              <a:t>La carpeta del proyecto no tiene control de versiones inicializado.</a:t>
            </a:r>
          </a:p>
          <a:p>
            <a:pPr>
              <a:defRPr sz="1100" b="1">
                <a:solidFill>
                  <a:srgbClr val="0F4B26"/>
                </a:solidFill>
                <a:latin typeface="Verdana"/>
              </a:defRPr>
            </a:pPr>
            <a:r>
              <a:t>✅ Solución:</a:t>
            </a:r>
            <a:br/>
            <a:r>
              <a:t>Responder 'Yes' en la terminal o ejecutar:</a:t>
            </a:r>
            <a:br/>
            <a:r>
              <a:t>$ git init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Georgia"/>
              </a:defRPr>
            </a:pPr>
            <a:r>
              <a:t>⚠️ Caso 2: Sin Identidad Git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Courier New"/>
              </a:defRPr>
            </a:pPr>
            <a:r>
              <a:t>Mensaje:</a:t>
            </a:r>
            <a:br/>
            <a:r>
              <a:t>'Please tell me who you are'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Causa:</a:t>
            </a:r>
            <a:br/>
            <a:r>
              <a:t>Git no tiene configurado un nombre y correo global o local.</a:t>
            </a:r>
          </a:p>
          <a:p>
            <a:pPr>
              <a:defRPr sz="1100" b="1">
                <a:solidFill>
                  <a:srgbClr val="0F4B26"/>
                </a:solidFill>
                <a:latin typeface="Verdana"/>
              </a:defRPr>
            </a:pPr>
            <a:r>
              <a:t>✅ Solución:</a:t>
            </a:r>
            <a:br/>
            <a:r>
              <a:t>$ git config --global user.name "Tu Nombre"</a:t>
            </a:r>
            <a:br/>
            <a:r>
              <a:t>$ git config --global user.email "tu@email.com"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36992" y="1737360"/>
            <a:ext cx="3328416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400" b="1">
                <a:solidFill>
                  <a:srgbClr val="B91C1C"/>
                </a:solidFill>
                <a:latin typeface="Georgia"/>
              </a:defRPr>
            </a:pPr>
            <a:r>
              <a:t>⚠️ Caso 3: Error Permisos 128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Courier New"/>
              </a:defRPr>
            </a:pPr>
            <a:r>
              <a:t>Mensaje:</a:t>
            </a:r>
            <a:br/>
            <a:r>
              <a:t>'detected dubious ownership in repository'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Causa:</a:t>
            </a:r>
            <a:br/>
            <a:r>
              <a:t>Permisos creados con un usuario distinto en Windows.</a:t>
            </a:r>
          </a:p>
          <a:p>
            <a:pPr>
              <a:defRPr sz="1100" b="1">
                <a:solidFill>
                  <a:srgbClr val="0F4B26"/>
                </a:solidFill>
                <a:latin typeface="Verdana"/>
              </a:defRPr>
            </a:pPr>
            <a:r>
              <a:t>✅ Solución:</a:t>
            </a:r>
            <a:br/>
            <a:r>
              <a:t>$ git config --global --add safe.directory "C:/Ruta/Proyecto"</a:t>
            </a:r>
            <a:br/>
            <a:r>
              <a:t>$ eas build:configure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4 DE 8 • ARCHIVO EAS.JSON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Configuración del Perfil Preview para APK y Canal OTA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Define la generación del archivo instalable .apk y lo vincula al canal de actualizaciones.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6692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eas.json (Raíz del proyecto)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"cli": {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"version": "&gt;= 20.4.0",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"appVersionSource": "remote"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},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"build": {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"preview": {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"distribution": "internal",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      "channel": "preview", // 👈 OBLIGATORIO para OTA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"android": {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        "buildType": "apk"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  }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737360"/>
            <a:ext cx="45107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📋 Claves de Configuración en eas.json:</a:t>
            </a:r>
          </a:p>
          <a:p>
            <a:pPr>
              <a:defRPr sz="1200" b="1">
                <a:solidFill>
                  <a:srgbClr val="1E293B"/>
                </a:solidFill>
                <a:latin typeface="Verdana"/>
              </a:defRPr>
            </a:pPr>
            <a:r>
              <a:t>1. Tipo de Compilación (buildType):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Por defecto Expo genera paquetes .aab (para Google Play). Al colocar "buildType": "apk", forzamos la generación del instalador directo .apk.</a:t>
            </a:r>
          </a:p>
          <a:p>
            <a:pPr>
              <a:defRPr sz="1200" b="1">
                <a:solidFill>
                  <a:srgbClr val="1E293B"/>
                </a:solidFill>
                <a:latin typeface="Verdana"/>
              </a:defRPr>
            </a:pPr>
            <a:r>
              <a:t>2. Canal de Actualización (channel):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OBLIGATORIO. Asigna "channel": "preview" para conectar el paquete APK con la rama 'preview' de actualizaciones OTA (Over-The-Air).</a:t>
            </a:r>
          </a:p>
          <a:p>
            <a:pPr>
              <a:defRPr sz="1200" b="1">
                <a:solidFill>
                  <a:srgbClr val="1E293B"/>
                </a:solidFill>
                <a:latin typeface="Verdana"/>
              </a:defRPr>
            </a:pPr>
            <a:r>
              <a:t>3. Distribución Interna:</a:t>
            </a:r>
          </a:p>
          <a:p>
            <a:pPr>
              <a:spcAft>
                <a:spcPts val="8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La propiedad "distribution": "internal" permite instalar el paquete directamente en dispositivos Android de prueba.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5 DE 8 • IDENTIFICADOR DE APLICACIÓN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Definición del Android Application ID (Package Name)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Asigna una identidad única global a la aplicación en el ecosistema Android.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Terminal - Asignación del Package Name</a:t>
            </a:r>
          </a:p>
          <a:p>
            <a:pPr>
              <a:spcAft>
                <a:spcPts val="200"/>
              </a:spcAft>
              <a:defRPr sz="1300">
                <a:solidFill>
                  <a:srgbClr val="38BDF8"/>
                </a:solidFill>
                <a:latin typeface="Courier New"/>
              </a:defRPr>
            </a:pPr>
            <a:r>
              <a:t>? What would you like your Android application id to be? › com.docente.miproyecto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Expo guardará automáticamente esta configuración en app.json: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urier New"/>
              </a:defRPr>
            </a:pPr>
            <a:r>
              <a:t>"android": { "package": "com.docente.miproyecto" 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📌 Reglas para el Application ID (Package Name):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Formato estándar: Notación de dominio inverso (ejemplo: com.empresa.nombreapp o com.docente.miproyecto).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Restricciones: Debe estar completamente en minúsculas, sin espacios, tildes ni caracteres especiales.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Unicidad: Es el nombre con el que el sistema operativo Android identifica a la app de forma única.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6 DE 8 • COMPILACIÓN EN LA NUBE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Ejecución del Build y Generación de la Firma Digital (Keystore)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Inicia el proceso de empaquetado en los servidores de Expo Application Services.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2011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Terminal - Comando de Compilación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Lanzar la compilación del APK usando el perfil preview:</a:t>
            </a:r>
          </a:p>
          <a:p>
            <a:pPr>
              <a:spcAft>
                <a:spcPts val="200"/>
              </a:spcAft>
              <a:defRPr sz="1400">
                <a:solidFill>
                  <a:srgbClr val="38BDF8"/>
                </a:solidFill>
                <a:latin typeface="Courier New"/>
              </a:defRPr>
            </a:pPr>
            <a:r>
              <a:t>$ eas build --profile preview --platform android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urier New"/>
              </a:defRPr>
            </a:pPr>
            <a:r>
              <a:t>? Generate a new Android Keystore? › Y (Yes)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023360"/>
            <a:ext cx="1036289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6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📌 Firma Digital (Android Keystore):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Al responder 'Yes', Expo crea automáticamente la llave criptográfica necesaria para firmar el APK.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La Keystore se almacena de forma 100% segura en la nube de Expo (no requiere manejo de archivos locales .jks).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t>• La compilación toma entre 5 y 10 minutos procesándose en la infraestructura en la nube de Expo.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SOLUCIÓN DE PROBLEMAS • PASO 6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Manejo del Error de Clonación / Tarball (Git Exit Code 128)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Fallo que ocurre cuando EAS intenta empaquetar archivos con cambios no confirmados.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0F4B26"/>
                </a:solidFill>
                <a:latin typeface="Georgia"/>
              </a:defRPr>
            </a:pPr>
            <a:r>
              <a:t>✅ Opción A (Recomendada con Git):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Confirmar todos los cambios locales en el repositorio antes de lanzar la compilación:</a:t>
            </a:r>
          </a:p>
          <a:p>
            <a:pPr>
              <a:spcAft>
                <a:spcPts val="400"/>
              </a:spcAft>
              <a:defRPr sz="1100">
                <a:solidFill>
                  <a:srgbClr val="0F4B26"/>
                </a:solidFill>
                <a:latin typeface="Courier New"/>
              </a:defRPr>
            </a:pPr>
            <a:r>
              <a:t>$ git add .</a:t>
            </a:r>
          </a:p>
          <a:p>
            <a:pPr>
              <a:spcAft>
                <a:spcPts val="400"/>
              </a:spcAft>
              <a:defRPr sz="1100">
                <a:solidFill>
                  <a:srgbClr val="0F4B26"/>
                </a:solidFill>
                <a:latin typeface="Courier New"/>
              </a:defRPr>
            </a:pPr>
            <a:r>
              <a:t>$ git commit -m "Configuracion inicial"</a:t>
            </a:r>
          </a:p>
          <a:p>
            <a:pPr>
              <a:spcAft>
                <a:spcPts val="400"/>
              </a:spcAft>
              <a:defRPr sz="1100">
                <a:solidFill>
                  <a:srgbClr val="0F4B26"/>
                </a:solidFill>
                <a:latin typeface="Courier New"/>
              </a:defRPr>
            </a:pPr>
            <a:r>
              <a:t>$ eas build --profile preview --platform android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73736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B8860B"/>
                </a:solidFill>
                <a:latin typeface="Georgia"/>
              </a:defRPr>
            </a:pPr>
            <a:r>
              <a:t>⚡ Opción B (Omitir Control de Versiones):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Forzar a EAS a comprimir el proyecto directamente sin usar la copia temporal de Git: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  <a:r>
              <a:t># En PowerShell (Windows):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  <a:r>
              <a:t>$env:EAS_NO_VCS=1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  <a:r>
              <a:t>eas build --profile preview --platform android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  <a:r>
              <a:t># En Bash / CMD / Mac / Linux: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Courier New"/>
              </a:defRPr>
            </a:pPr>
            <a:r>
              <a:t>EAS_NO_VCS=1 eas build --profile preview --platform android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7 DE 8 • DISTRIBUCIÓN DEL INSTALADOR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Descarga e Instalación del APK en Dispositivos Android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Obtención de los enlaces públicos y códigos QR generados por la plataforma Expo.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200"/>
              </a:spcAft>
              <a:defRPr sz="1600" b="1">
                <a:solidFill>
                  <a:srgbClr val="0F4B26"/>
                </a:solidFill>
                <a:latin typeface="Georgia"/>
              </a:defRPr>
            </a:pPr>
            <a:r>
              <a:t>📲 Canales de Entrega del APK:</a:t>
            </a:r>
          </a:p>
          <a:p>
            <a:pPr>
              <a:defRPr sz="1300" b="1">
                <a:solidFill>
                  <a:srgbClr val="1E293B"/>
                </a:solidFill>
                <a:latin typeface="Verdana"/>
              </a:defRPr>
            </a:pPr>
            <a:r>
              <a:t>🌐 Enlace Directo de Descarga: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Verdana"/>
              </a:defRPr>
            </a:pPr>
            <a:r>
              <a:t>Al finalizar el build, EAS muestra en la terminal una URL pública. Este enlace se puede compartir con cualquier usuario.</a:t>
            </a:r>
          </a:p>
          <a:p>
            <a:pPr>
              <a:defRPr sz="1300" b="1">
                <a:solidFill>
                  <a:srgbClr val="1E293B"/>
                </a:solidFill>
                <a:latin typeface="Verdana"/>
              </a:defRPr>
            </a:pPr>
            <a:r>
              <a:t>📷 Escaneo por Código QR: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Verdana"/>
              </a:defRPr>
            </a:pPr>
            <a:r>
              <a:t>Se despliega un código QR en la terminal y en la consola web de Expo. Puede escanearse directamente desde la cámara del teléfono Android para iniciar la descarga.</a:t>
            </a:r>
          </a:p>
          <a:p>
            <a:pPr>
              <a:defRPr sz="1300" b="1">
                <a:solidFill>
                  <a:srgbClr val="1E293B"/>
                </a:solidFill>
                <a:latin typeface="Verdana"/>
              </a:defRPr>
            </a:pPr>
            <a:r>
              <a:t>💾 Archivo Instalable .apk:</a:t>
            </a:r>
          </a:p>
          <a:p>
            <a:pPr>
              <a:spcAft>
                <a:spcPts val="1000"/>
              </a:spcAft>
              <a:defRPr sz="1200">
                <a:solidFill>
                  <a:srgbClr val="475569"/>
                </a:solidFill>
                <a:latin typeface="Verdana"/>
              </a:defRPr>
            </a:pPr>
            <a:r>
              <a:t>El archivo descargado tiene extensión .apk y se puede instalar directamente habilitando la instalación manual en los ajustes de Android.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91840" y="320040"/>
            <a:ext cx="822960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9728"/>
          <a:lstStyle/>
          <a:p>
            <a:pPr algn="ctr">
              <a:spcAft>
                <a:spcPts val="200"/>
              </a:spcAft>
              <a:defRPr sz="1000" b="1">
                <a:solidFill>
                  <a:srgbClr val="B8860B"/>
                </a:solidFill>
                <a:latin typeface="Verdana"/>
              </a:defRPr>
            </a:pPr>
            <a:r>
              <a:t>PASO 8 DE 8 • ACTUALIZACIONES OVER-THE-AIR (OTA)</a:t>
            </a:r>
          </a:p>
          <a:p>
            <a:pPr>
              <a:spcAft>
                <a:spcPts val="200"/>
              </a:spcAft>
              <a:defRPr sz="1800" b="1">
                <a:solidFill>
                  <a:srgbClr val="0F4B26"/>
                </a:solidFill>
                <a:latin typeface="Georgia"/>
              </a:defRPr>
            </a:pPr>
            <a:r>
              <a:t>Despliegue con EAS Update y Requisito Obligatorio del Canal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Permite actualizar la interfaz y lógica JavaScript sin necesidad de recompilar ni reinstalar un nuevo APK.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530352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B8860B"/>
                </a:solidFill>
                <a:latin typeface="Verdana"/>
              </a:defRPr>
            </a:pPr>
            <a:r>
              <a:t>💻 Comando para Publicar Actualizaciones OTA</a:t>
            </a: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Publicar actualización en la rama "preview":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urier New"/>
              </a:defRPr>
            </a:pPr>
            <a:r>
              <a:t>$ eas update --branch preview \</a:t>
            </a:r>
          </a:p>
          <a:p>
            <a:pPr>
              <a:spcAft>
                <a:spcPts val="200"/>
              </a:spcAft>
              <a:defRPr sz="1200">
                <a:solidFill>
                  <a:srgbClr val="38BDF8"/>
                </a:solidFill>
                <a:latin typeface="Courier New"/>
              </a:defRPr>
            </a:pPr>
            <a:r>
              <a:t>  --message "Actualización de interfaz"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FB923C"/>
                </a:solidFill>
                <a:latin typeface="Courier New"/>
              </a:defRPr>
            </a:pPr>
            <a:r>
              <a:t># Resultado: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✔ Published update to group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✔ Branch: preview</a:t>
            </a:r>
          </a:p>
          <a:p>
            <a:pPr>
              <a:spcAft>
                <a:spcPts val="200"/>
              </a:spcAft>
              <a:defRPr sz="1100">
                <a:solidFill>
                  <a:srgbClr val="38BDF8"/>
                </a:solidFill>
                <a:latin typeface="Courier New"/>
              </a:defRPr>
            </a:pPr>
            <a:r>
              <a:t>✔ Manifest URL generated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4876495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B91C1C"/>
                </a:solidFill>
                <a:latin typeface="Georgia"/>
              </a:defRPr>
            </a:pPr>
            <a:r>
              <a:t>⚠️ REQUISITO VITAL DE VINCULACIÓN: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Verdana"/>
              </a:defRPr>
            </a:pPr>
            <a:r>
              <a:t>1. Vinculación del Canal (channel):</a:t>
            </a:r>
            <a:br/>
            <a:r>
              <a:t>Para que un APK compilado escuche las actualizaciones de una rama (branch), la app NECESITA tener incluido explícitamente "channel": "preview" en eas.json.</a:t>
            </a:r>
          </a:p>
          <a:p>
            <a:pPr>
              <a:defRPr sz="1100" b="1">
                <a:solidFill>
                  <a:srgbClr val="B91C1C"/>
                </a:solidFill>
                <a:latin typeface="Verdana"/>
              </a:defRPr>
            </a:pPr>
            <a:r>
              <a:t>2. ¡Importante sobre APKs previas!</a:t>
            </a:r>
            <a:br/>
            <a:r>
              <a:t>Si el APK instalado fue compilado ANTES de agregar "channel": "preview" en eas.json, ese APK específico no sabrá a dónde conectarse a buscar actualizaciones OTA. Tendrás que generar el APK una última vez con ese campo presente.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